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handoutMasterIdLst>
    <p:handoutMasterId r:id="rId17"/>
  </p:handoutMasterIdLst>
  <p:sldIdLst>
    <p:sldId id="288" r:id="rId5"/>
    <p:sldId id="302" r:id="rId6"/>
    <p:sldId id="305" r:id="rId7"/>
    <p:sldId id="304" r:id="rId8"/>
    <p:sldId id="306" r:id="rId9"/>
    <p:sldId id="312" r:id="rId10"/>
    <p:sldId id="303" r:id="rId11"/>
    <p:sldId id="310" r:id="rId12"/>
    <p:sldId id="307" r:id="rId13"/>
    <p:sldId id="309" r:id="rId14"/>
    <p:sldId id="313" r:id="rId15"/>
    <p:sldId id="300" r:id="rId16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02"/>
            <p14:sldId id="305"/>
            <p14:sldId id="304"/>
            <p14:sldId id="306"/>
            <p14:sldId id="312"/>
            <p14:sldId id="303"/>
            <p14:sldId id="310"/>
            <p14:sldId id="307"/>
            <p14:sldId id="309"/>
            <p14:sldId id="313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46D2"/>
    <a:srgbClr val="646491"/>
    <a:srgbClr val="192350"/>
    <a:srgbClr val="56579B"/>
    <a:srgbClr val="EEEEFC"/>
    <a:srgbClr val="19266B"/>
    <a:srgbClr val="393683"/>
    <a:srgbClr val="000000"/>
    <a:srgbClr val="344C90"/>
    <a:srgbClr val="2E4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552" autoAdjust="0"/>
  </p:normalViewPr>
  <p:slideViewPr>
    <p:cSldViewPr snapToGrid="0">
      <p:cViewPr varScale="1">
        <p:scale>
          <a:sx n="75" d="100"/>
          <a:sy n="75" d="100"/>
        </p:scale>
        <p:origin x="95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03/04/2026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475196"/>
            <a:ext cx="14747649" cy="1354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Projeto em Business Intelligence e Analytics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2: Apresentação Executiva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2422"/>
          </a:p>
        </p:txBody>
      </p:sp>
      <p:sp>
        <p:nvSpPr>
          <p:cNvPr id="8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0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B73456F-61AF-4547-97EF-7A33FBA993AC}"/>
              </a:ext>
            </a:extLst>
          </p:cNvPr>
          <p:cNvSpPr txBox="1"/>
          <p:nvPr userDrawn="1"/>
        </p:nvSpPr>
        <p:spPr>
          <a:xfrm>
            <a:off x="2207366" y="3112631"/>
            <a:ext cx="11987319" cy="23083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Este é o template para você estruturar a </a:t>
            </a:r>
            <a:r>
              <a:rPr lang="pt-BR" sz="26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Apresentação Executiva </a:t>
            </a: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 seu projeto.</a:t>
            </a:r>
          </a:p>
          <a:p>
            <a:pPr marL="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Essa atividade é parte da entrega da Fase 2.</a:t>
            </a:r>
          </a:p>
          <a:p>
            <a:pPr marL="26670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00" b="0" baseline="0" dirty="0">
                <a:solidFill>
                  <a:srgbClr val="8246D2"/>
                </a:solidFill>
                <a:latin typeface="+mn-lt"/>
              </a:rPr>
              <a:t>(As ferramentas podem ser Tableau, </a:t>
            </a:r>
            <a:r>
              <a:rPr lang="pt-BR" sz="2400" b="0" baseline="0" dirty="0" err="1">
                <a:solidFill>
                  <a:srgbClr val="8246D2"/>
                </a:solidFill>
                <a:latin typeface="+mn-lt"/>
              </a:rPr>
              <a:t>PowerBI</a:t>
            </a:r>
            <a:r>
              <a:rPr lang="pt-BR" sz="2400" b="0" baseline="0" dirty="0">
                <a:solidFill>
                  <a:srgbClr val="8246D2"/>
                </a:solidFill>
                <a:latin typeface="+mn-lt"/>
              </a:rPr>
              <a:t>, Google Analytics ou Google </a:t>
            </a:r>
            <a:r>
              <a:rPr lang="pt-BR" sz="2400" b="0" baseline="0" dirty="0" err="1">
                <a:solidFill>
                  <a:srgbClr val="8246D2"/>
                </a:solidFill>
                <a:latin typeface="+mn-lt"/>
              </a:rPr>
              <a:t>Colab</a:t>
            </a:r>
            <a:r>
              <a:rPr lang="pt-BR" sz="2400" b="0" baseline="0" dirty="0">
                <a:solidFill>
                  <a:srgbClr val="8246D2"/>
                </a:solidFill>
                <a:latin typeface="+mn-lt"/>
              </a:rPr>
              <a:t>.)</a:t>
            </a:r>
          </a:p>
          <a:p>
            <a:pPr marL="266700" indent="0" algn="ctr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endParaRPr lang="pt-BR" sz="2600" baseline="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0" indent="0" algn="ctr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BR" sz="26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Se necessário duplicar o slide, no painel de miniaturas à esquerda clique na miniatura do slide e clique em ‘Duplicar Slide’. </a:t>
            </a:r>
          </a:p>
        </p:txBody>
      </p:sp>
    </p:spTree>
    <p:extLst>
      <p:ext uri="{BB962C8B-B14F-4D97-AF65-F5344CB8AC3E}">
        <p14:creationId xmlns:p14="http://schemas.microsoft.com/office/powerpoint/2010/main" val="959556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4BE436D4-4143-4968-90B7-24DD96BF03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416050"/>
            <a:ext cx="14544674" cy="7453314"/>
          </a:xfrm>
          <a:prstGeom prst="rect">
            <a:avLst/>
          </a:prstGeom>
          <a:noFill/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7" r:id="rId2"/>
    <p:sldLayoutId id="2147483706" r:id="rId3"/>
    <p:sldLayoutId id="2147483694" r:id="rId4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9DC85DF-50FF-41FE-83AA-46E29EBCE7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Bruno Mumbach</a:t>
            </a:r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F231F41-DE0E-41DF-BB7D-7FA8E186A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				</a:t>
            </a:r>
          </a:p>
          <a:p>
            <a:endParaRPr lang="pt-BR" dirty="0"/>
          </a:p>
          <a:p>
            <a:endParaRPr lang="pt-BR" sz="2400" b="1" dirty="0"/>
          </a:p>
          <a:p>
            <a:r>
              <a:rPr lang="pt-BR" sz="2400" b="1" dirty="0"/>
              <a:t>			Análise Produtiva Agrícola no Noroeste do RS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		</a:t>
            </a:r>
            <a:r>
              <a:rPr lang="pt-BR" sz="2000" dirty="0"/>
              <a:t>O setor agrícola possui alta relevância econômica, porém enfrenta desafios relacionados à eficiência produtiva, 			variabilidade climática e tomada de decisão baseada em dados.</a:t>
            </a:r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BD62F-FD6C-48D8-9BD0-2827F1B4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37B7BC18-E2BA-ABE4-408D-011172329A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sz="2400" b="1" dirty="0"/>
          </a:p>
          <a:p>
            <a:endParaRPr lang="pt-BR" sz="2400" b="1" dirty="0"/>
          </a:p>
          <a:p>
            <a:endParaRPr lang="pt-BR" sz="2400" b="1" dirty="0"/>
          </a:p>
          <a:p>
            <a:endParaRPr lang="pt-BR" sz="2400" b="1" dirty="0"/>
          </a:p>
          <a:p>
            <a:r>
              <a:rPr lang="pt-BR" sz="2400" b="1" dirty="0"/>
              <a:t>Problema de Negócio</a:t>
            </a:r>
          </a:p>
          <a:p>
            <a:endParaRPr lang="pt-BR" sz="2400" b="1" dirty="0"/>
          </a:p>
          <a:p>
            <a:r>
              <a:rPr lang="pt-BR" sz="2400" dirty="0"/>
              <a:t>Como identificar padrões produtivos e fatores que influenciam a eficiência agrícola na região, utilizando dados históricos e ferramentas analíticas?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766839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1A70-B64F-7289-5717-29C5C1479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90FA340-B7EA-C7DF-A898-B8F1E022C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		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sz="2000" dirty="0"/>
              <a:t>Os cards no topo da tela indicam os valores correspondentes aos filtros aplicados por cultura.</a:t>
            </a:r>
          </a:p>
          <a:p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	Caso seja selecionado o ano de 2024 e a variável de Área plantada, os cards irão exibir os valores referente a essas informações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1C48808-04F1-6396-2643-87460B5C6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53" y="1681025"/>
            <a:ext cx="1267954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1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B20D-7AA0-3D55-F0C9-26EEE3E82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DC2B5EE-E94B-678B-A39A-8BCC95D8D7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produtividade apresenta variações significativas ao</a:t>
            </a:r>
          </a:p>
          <a:p>
            <a:r>
              <a:rPr lang="pt-BR" dirty="0"/>
              <a:t> longo dos anos, indicando forte influência de fatores externos.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milho apresenta os maiores níveis de produtividade, </a:t>
            </a:r>
          </a:p>
          <a:p>
            <a:r>
              <a:rPr lang="pt-BR" dirty="0"/>
              <a:t>seguido por soja e trigo.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Observa-se uma queda acentuada em determinados </a:t>
            </a:r>
          </a:p>
          <a:p>
            <a:r>
              <a:rPr lang="pt-BR" dirty="0"/>
              <a:t>períodos (</a:t>
            </a:r>
            <a:r>
              <a:rPr lang="pt-BR" dirty="0" err="1"/>
              <a:t>ex</a:t>
            </a:r>
            <a:r>
              <a:rPr lang="pt-BR" dirty="0"/>
              <a:t>: 2022), relacionada a condições climáticas adversas.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Há uma tendência de recuperação recente, indicando </a:t>
            </a:r>
          </a:p>
          <a:p>
            <a:r>
              <a:rPr lang="pt-BR" dirty="0"/>
              <a:t>Adaptação do setor.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938424-5823-B02C-F91F-D7791FA0E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00" y="1533525"/>
            <a:ext cx="8259761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6CD381A-3056-B210-70DD-D73F873234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sz="2000" dirty="0"/>
              <a:t>O milho apresenta a maior produtividade média porém menor valor agregado.</a:t>
            </a:r>
          </a:p>
          <a:p>
            <a:r>
              <a:rPr lang="pt-BR" sz="2000" dirty="0"/>
              <a:t>Soja e trigo apresentam desempenho intermediário.</a:t>
            </a:r>
          </a:p>
          <a:p>
            <a:r>
              <a:rPr lang="pt-BR" sz="2000" dirty="0"/>
              <a:t>O fumo possui menor produtividade, mas tem maior valor agregado.</a:t>
            </a:r>
          </a:p>
          <a:p>
            <a:r>
              <a:rPr lang="pt-BR" sz="2000" dirty="0"/>
              <a:t>Diferenças indicam eficiência distinta entre culturas.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A83FD64-AB1B-D72A-B7A8-F9C34822A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275" y="1416050"/>
            <a:ext cx="6354086" cy="606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4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E0FFC-54EA-DE84-48CA-010BC4FA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47EA283-FDFB-15CD-D851-56E6690B8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 produção agrícola está geograficamente concentrada em alguns municípios-chave.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Regiões com maior área plantada tendem a ser também os principais polos produtivos.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Existe uma desigualdade regional, com poucos municípios concentrando grande parte da produção.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F035C51-BB9C-0204-69EB-4785D7859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716" y="1416050"/>
            <a:ext cx="9336645" cy="405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5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4EBA-16AF-9349-76B6-AC7A54FC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98355B9-13F2-7E6E-CB75-0EA160E410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 produção está altamente concentrada em poucos municípios.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Municípios como Tupanciretã, Palmeira das Missões e Cruz Alta lideram o ranking.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Essa concentração pode indicar:</a:t>
            </a:r>
          </a:p>
          <a:p>
            <a:pPr marL="92583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maior uso de tecnologia</a:t>
            </a:r>
          </a:p>
          <a:p>
            <a:pPr marL="92583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melhor infraestrutura</a:t>
            </a:r>
          </a:p>
          <a:p>
            <a:pPr marL="92583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maior acesso a crédito</a:t>
            </a:r>
          </a:p>
          <a:p>
            <a:pPr marL="92583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Terras mais produtivas</a:t>
            </a:r>
          </a:p>
          <a:p>
            <a:pPr marL="92583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Maior extensão de terra por município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BBDE0E-9D30-D284-3F26-A9E84B4C7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0" y="1207611"/>
            <a:ext cx="3929061" cy="78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6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3C6B949-22C6-B482-3A8A-9D213FAFB5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Diferentes municípios apresentam especialização produtiva.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Alguns são dominados por soja, enquanto outros possuem maior </a:t>
            </a:r>
          </a:p>
          <a:p>
            <a:r>
              <a:rPr lang="pt-BR" sz="2000" dirty="0"/>
              <a:t>      equilíbrio entre culturas.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Essa especialização pode ser explicada por:</a:t>
            </a:r>
          </a:p>
          <a:p>
            <a:pPr lvl="1"/>
            <a:r>
              <a:rPr lang="pt-BR" sz="2000" dirty="0"/>
              <a:t>condições climáticas</a:t>
            </a:r>
          </a:p>
          <a:p>
            <a:pPr lvl="1"/>
            <a:r>
              <a:rPr lang="pt-BR" sz="2000" dirty="0"/>
              <a:t>tipo de solo</a:t>
            </a:r>
          </a:p>
          <a:p>
            <a:pPr lvl="1"/>
            <a:r>
              <a:rPr lang="pt-BR" sz="2000" dirty="0"/>
              <a:t>estratégias econômicas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F2D802-CED9-D22F-8B91-93043FAA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365" y="1416050"/>
            <a:ext cx="7319996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89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7298-D832-0A1B-AA9C-7819E8FE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10AF734-F607-2DB1-2E96-71DAC1FC8C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Há uma tendência clara de crescimento da área plantada, </a:t>
            </a:r>
          </a:p>
          <a:p>
            <a:r>
              <a:rPr lang="pt-BR" sz="2000" dirty="0"/>
              <a:t>principalmente para soja.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Esse crescimento indica:</a:t>
            </a:r>
          </a:p>
          <a:p>
            <a:pPr lvl="1"/>
            <a:r>
              <a:rPr lang="pt-BR" sz="2000" dirty="0"/>
              <a:t>expansão agrícola</a:t>
            </a:r>
          </a:p>
          <a:p>
            <a:pPr lvl="1"/>
            <a:r>
              <a:rPr lang="pt-BR" sz="2000" dirty="0"/>
              <a:t>aumento da demanda</a:t>
            </a:r>
          </a:p>
          <a:p>
            <a:pPr lvl="1"/>
            <a:r>
              <a:rPr lang="pt-BR" sz="2000" dirty="0"/>
              <a:t>maior investimento no setor</a:t>
            </a:r>
          </a:p>
          <a:p>
            <a:pPr lvl="1"/>
            <a:r>
              <a:rPr lang="pt-BR" sz="2000" dirty="0"/>
              <a:t>maior rentabilidade da cultura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Outras culturas permanecem relativamente estáveis.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622239-500A-DF96-683B-73A7440F1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708" y="1416050"/>
            <a:ext cx="7946327" cy="624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65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E308C6E-6FCE-BE01-8FA7-7AE352336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	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valor da produção apresenta alta volatilidade, com picos expressivos em 2021 ocasionados pela alta no preço da soja.</a:t>
            </a:r>
          </a:p>
          <a:p>
            <a:r>
              <a:rPr lang="pt-BR" dirty="0"/>
              <a:t>A soja é o principal driver do valor econômico.</a:t>
            </a:r>
          </a:p>
          <a:p>
            <a:r>
              <a:rPr lang="pt-BR" dirty="0"/>
              <a:t>Milho e trigo possuem participação menor, mas relevante.</a:t>
            </a:r>
          </a:p>
          <a:p>
            <a:r>
              <a:rPr lang="pt-BR" dirty="0"/>
              <a:t>O modelo produtivo é altamente dependente da soja, aumentando risco econômico.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F5B378-1B61-B94F-BE6F-E3A18723A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300" y="1416051"/>
            <a:ext cx="8243886" cy="520137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D26E4C1-DAE2-8ADE-994D-FB18A9A0C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4" y="1416050"/>
            <a:ext cx="6294436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46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Props1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5DC577-20A1-4512-B4E1-28F0CC21B7A7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6439f31e-650a-4110-90ce-dedea4761958"/>
    <ds:schemaRef ds:uri="http://purl.org/dc/terms/"/>
    <ds:schemaRef ds:uri="http://schemas.openxmlformats.org/package/2006/metadata/core-properties"/>
    <ds:schemaRef ds:uri="http://purl.org/dc/dcmitype/"/>
    <ds:schemaRef ds:uri="0c1d693f-504f-4903-8fa4-fc4240ce4f11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2246</TotalTime>
  <Words>428</Words>
  <Application>Microsoft Office PowerPoint</Application>
  <PresentationFormat>Personalizar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BRUNO MUMBACH</cp:lastModifiedBy>
  <cp:revision>258</cp:revision>
  <dcterms:created xsi:type="dcterms:W3CDTF">2024-07-05T13:08:06Z</dcterms:created>
  <dcterms:modified xsi:type="dcterms:W3CDTF">2026-04-03T19:36:01Z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2025-05-08T19:30:29Z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e72fddd9-a87f-4e4f-8e80-f02fe8eadf91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